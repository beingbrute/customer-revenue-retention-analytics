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7610316-be35-95dc-61a4-aa03582f6716}">
          <p14:sldIdLst>
            <p14:sldId id="256"/>
          </p14:sldIdLst>
        </p14:section>
        <p14:section name="Findings" id="{0ee4df11-26cc-9f88-0dba-7c2f4e5d083a}">
          <p14:sldIdLst>
            <p14:sldId id="257"/>
            <p14:sldId id="258"/>
            <p14:sldId id="259"/>
            <p14:sldId id="260"/>
          </p14:sldIdLst>
        </p14:section>
        <p14:section name="Method" id="{339bbb8f-743d-6c81-f8a8-c9ea3164ca20}">
          <p14:sldIdLst>
            <p14:sldId id="261"/>
          </p14:sldIdLst>
        </p14:section>
        <p14:section name="Close" id="{12bf1613-e287-8ab7-5eab-8a1899b8e288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33333"/>
                </a:solidFill>
                <a:latin typeface="+mn-lt"/>
              </a:rPr>
              <a:t>Estimated net revenue by month (£K), complete months only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(£K)</c:v>
                </c:pt>
              </c:strCache>
            </c:strRef>
          </c:tx>
          <c:spPr>
            <a:solidFill>
              <a:srgbClr val="6D2E46"/>
            </a:solidFill>
            <a:ln w="25400" cap="flat">
              <a:solidFill>
                <a:srgbClr val="6D2E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6D2E46"/>
              </a:solidFill>
              <a:ln w="9525" cap="flat">
                <a:solidFill>
                  <a:srgbClr val="6D2E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Dec 09</c:v>
                  </c:pt>
                  <c:pt idx="1">
                    <c:v>Jan 10</c:v>
                  </c:pt>
                  <c:pt idx="2">
                    <c:v>Feb 10</c:v>
                  </c:pt>
                  <c:pt idx="3">
                    <c:v>Mar 10</c:v>
                  </c:pt>
                  <c:pt idx="4">
                    <c:v>Apr 10</c:v>
                  </c:pt>
                  <c:pt idx="5">
                    <c:v>May 10</c:v>
                  </c:pt>
                  <c:pt idx="6">
                    <c:v>Jun 10</c:v>
                  </c:pt>
                  <c:pt idx="7">
                    <c:v>Jul 10</c:v>
                  </c:pt>
                  <c:pt idx="8">
                    <c:v>Aug 10</c:v>
                  </c:pt>
                  <c:pt idx="9">
                    <c:v>Sep 10</c:v>
                  </c:pt>
                  <c:pt idx="10">
                    <c:v>Oct 10</c:v>
                  </c:pt>
                  <c:pt idx="11">
                    <c:v>Nov 10</c:v>
                  </c:pt>
                  <c:pt idx="12">
                    <c:v>Dec 10</c:v>
                  </c:pt>
                  <c:pt idx="13">
                    <c:v>Jan 11</c:v>
                  </c:pt>
                  <c:pt idx="14">
                    <c:v>Feb 11</c:v>
                  </c:pt>
                  <c:pt idx="15">
                    <c:v>Mar 11</c:v>
                  </c:pt>
                  <c:pt idx="16">
                    <c:v>Apr 11</c:v>
                  </c:pt>
                  <c:pt idx="17">
                    <c:v>May 11</c:v>
                  </c:pt>
                  <c:pt idx="18">
                    <c:v>Jun 11</c:v>
                  </c:pt>
                  <c:pt idx="19">
                    <c:v>Jul 11</c:v>
                  </c:pt>
                  <c:pt idx="20">
                    <c:v>Aug 11</c:v>
                  </c:pt>
                  <c:pt idx="21">
                    <c:v>Sep 11</c:v>
                  </c:pt>
                  <c:pt idx="22">
                    <c:v>Oct 11</c:v>
                  </c:pt>
                  <c:pt idx="23">
                    <c:v>Nov 11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778.3</c:v>
                </c:pt>
                <c:pt idx="1">
                  <c:v>604.8</c:v>
                </c:pt>
                <c:pt idx="2">
                  <c:v>525.3</c:v>
                </c:pt>
                <c:pt idx="3">
                  <c:v>752.1</c:v>
                </c:pt>
                <c:pt idx="4">
                  <c:v>636.3</c:v>
                </c:pt>
                <c:pt idx="5">
                  <c:v>606.3</c:v>
                </c:pt>
                <c:pt idx="6">
                  <c:v>670.2</c:v>
                </c:pt>
                <c:pt idx="7">
                  <c:v>615.9</c:v>
                </c:pt>
                <c:pt idx="8">
                  <c:v>661.6</c:v>
                </c:pt>
                <c:pt idx="9">
                  <c:v>841.6</c:v>
                </c:pt>
                <c:pt idx="10">
                  <c:v>1069</c:v>
                </c:pt>
                <c:pt idx="11">
                  <c:v>1394.6</c:v>
                </c:pt>
                <c:pt idx="12">
                  <c:v>758.1</c:v>
                </c:pt>
                <c:pt idx="13">
                  <c:v>578.9</c:v>
                </c:pt>
                <c:pt idx="14">
                  <c:v>499.5</c:v>
                </c:pt>
                <c:pt idx="15">
                  <c:v>679.3</c:v>
                </c:pt>
                <c:pt idx="16">
                  <c:v>482.1</c:v>
                </c:pt>
                <c:pt idx="17">
                  <c:v>731</c:v>
                </c:pt>
                <c:pt idx="18">
                  <c:v>684.9</c:v>
                </c:pt>
                <c:pt idx="19">
                  <c:v>676.8</c:v>
                </c:pt>
                <c:pt idx="20">
                  <c:v>701.3</c:v>
                </c:pt>
                <c:pt idx="21">
                  <c:v>1011.3</c:v>
                </c:pt>
                <c:pt idx="22">
                  <c:v>1061.7</c:v>
                </c:pt>
                <c:pt idx="23">
                  <c:v>1427.1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1E3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777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33333"/>
                </a:solidFill>
                <a:latin typeface="+mn-lt"/>
              </a:rPr>
              <a:t>Share of identified-customer net revenue by RFM segment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net revenue (%)</c:v>
                </c:pt>
              </c:strCache>
            </c:strRef>
          </c:tx>
          <c:spPr>
            <a:solidFill>
              <a:srgbClr val="C0849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849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849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849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849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849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0849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0849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08497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08497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6D2E46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Regular Customers</c:v>
                  </c:pt>
                  <c:pt idx="1">
                    <c:v>New Customers</c:v>
                  </c:pt>
                  <c:pt idx="2">
                    <c:v>High-Value Active</c:v>
                  </c:pt>
                  <c:pt idx="3">
                    <c:v>Promising Customers</c:v>
                  </c:pt>
                  <c:pt idx="4">
                    <c:v>Need Attention</c:v>
                  </c:pt>
                  <c:pt idx="5">
                    <c:v>Hibernating</c:v>
                  </c:pt>
                  <c:pt idx="6">
                    <c:v>Loyal Customers</c:v>
                  </c:pt>
                  <c:pt idx="7">
                    <c:v>Potential Loyalists</c:v>
                  </c:pt>
                  <c:pt idx="8">
                    <c:v>At Risk</c:v>
                  </c:pt>
                  <c:pt idx="9">
                    <c:v>Champions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0.14</c:v>
                </c:pt>
                <c:pt idx="1">
                  <c:v>0.25</c:v>
                </c:pt>
                <c:pt idx="2">
                  <c:v>0.29</c:v>
                </c:pt>
                <c:pt idx="3">
                  <c:v>0.58</c:v>
                </c:pt>
                <c:pt idx="4">
                  <c:v>1.3</c:v>
                </c:pt>
                <c:pt idx="5">
                  <c:v>3.14</c:v>
                </c:pt>
                <c:pt idx="6">
                  <c:v>5.24</c:v>
                </c:pt>
                <c:pt idx="7">
                  <c:v>5.43</c:v>
                </c:pt>
                <c:pt idx="8">
                  <c:v>9.6</c:v>
                </c:pt>
                <c:pt idx="9">
                  <c:v>74.04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777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33333"/>
                </a:solidFill>
                <a:latin typeface="+mn-lt"/>
              </a:rPr>
              <a:t>Weighted cohort retention after the first purchase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retention (%)</c:v>
                </c:pt>
              </c:strCache>
            </c:strRef>
          </c:tx>
          <c:spPr>
            <a:solidFill>
              <a:srgbClr val="2F6F7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Month 2</c:v>
                  </c:pt>
                  <c:pt idx="1">
                    <c:v>Month 3</c:v>
                  </c:pt>
                  <c:pt idx="2">
                    <c:v>Month 6</c:v>
                  </c:pt>
                  <c:pt idx="3">
                    <c:v>Month 12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23.04</c:v>
                </c:pt>
                <c:pt idx="1">
                  <c:v>23.29</c:v>
                </c:pt>
                <c:pt idx="2">
                  <c:v>21.75</c:v>
                </c:pt>
                <c:pt idx="3">
                  <c:v>21.65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E6E1E3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777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33333"/>
                </a:solidFill>
                <a:latin typeface="+mn-lt"/>
              </a:rPr>
              <a:t>Estimated net revenue by product category (£M)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(£M)</c:v>
                </c:pt>
              </c:strCache>
            </c:strRef>
          </c:tx>
          <c:spPr>
            <a:solidFill>
              <a:srgbClr val="C0849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849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849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849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849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849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0849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0849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08497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08497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6D2E46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6D2E46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6D2E46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Food &amp; Beverage</c:v>
                  </c:pt>
                  <c:pt idx="1">
                    <c:v>Other / Unclear</c:v>
                  </c:pt>
                  <c:pt idx="2">
                    <c:v>Garden &amp; Outdoor</c:v>
                  </c:pt>
                  <c:pt idx="3">
                    <c:v>Fashion &amp; Personal Accessories</c:v>
                  </c:pt>
                  <c:pt idx="4">
                    <c:v>Toys &amp; Children</c:v>
                  </c:pt>
                  <c:pt idx="5">
                    <c:v>Bathroom &amp; Personal Care</c:v>
                  </c:pt>
                  <c:pt idx="6">
                    <c:v>Stationery, Crafts &amp; Wrapping</c:v>
                  </c:pt>
                  <c:pt idx="7">
                    <c:v>Lighting &amp; Candles</c:v>
                  </c:pt>
                  <c:pt idx="8">
                    <c:v>Seasonal &amp; Celebrations</c:v>
                  </c:pt>
                  <c:pt idx="9">
                    <c:v>Bags, Storage &amp; Travel</c:v>
                  </c:pt>
                  <c:pt idx="10">
                    <c:v>Home Decor &amp; Furnishings</c:v>
                  </c:pt>
                  <c:pt idx="11">
                    <c:v>Kitchen &amp; Dining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0.1</c:v>
                </c:pt>
                <c:pt idx="1">
                  <c:v>0.3</c:v>
                </c:pt>
                <c:pt idx="2">
                  <c:v>0.34</c:v>
                </c:pt>
                <c:pt idx="3">
                  <c:v>0.65</c:v>
                </c:pt>
                <c:pt idx="4">
                  <c:v>0.67</c:v>
                </c:pt>
                <c:pt idx="5">
                  <c:v>1.08</c:v>
                </c:pt>
                <c:pt idx="6">
                  <c:v>1.55</c:v>
                </c:pt>
                <c:pt idx="7">
                  <c:v>1.74</c:v>
                </c:pt>
                <c:pt idx="8">
                  <c:v>1.79</c:v>
                </c:pt>
                <c:pt idx="9">
                  <c:v>2.61</c:v>
                </c:pt>
                <c:pt idx="10">
                  <c:v>3.77</c:v>
                </c:pt>
                <c:pt idx="11">
                  <c:v>4.3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777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Portfolio analysis of the public UCI Online Retail II dataset. Three questions: where revenue comes from, which customers drive it, and whether customers come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Totals reconcile to the Snowflake marts. Cancellations are 3.65% of gross sales, so one percentage point is roughly £196K of gross sales. The dataset has no cancellation reason codes.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RFM segments built in Python. The same shares were checked in Tableau with FIXED LOD and blended against the Snowflake segment mart; every segment matched within 0.05 percentage points (rounding in the export).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Retention drops to about 23% by month 2 and then stays near 21–23% through month 12, so the biggest loss is right after the first order. Weighted retention = retained customers ÷ eligible customers across all eligible cohorts.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Categories come from classifying 4,725 product descriptions with a local LLM (Qwen3 via Ollama), checked with keyword rules, JSON schema validation and manual review: 0 missing categories, 0 duplicate stock codes.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Tools: Python (Pandas) for cleaning and RFM, Snowflake SQL for the three warehouse layers and marts, Tableau for dashboards, Ollama with Qwen3 for product classification.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recommendation is a test, not a conclusion, because the data shows association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Customer Revenue &amp; Retention Analytics  ·  Aditya Ranjan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drives revenue, and who comes back?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Customer revenue and retention analysis of a UK online retailer, Dec 2009 – Dec 2011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1,033,036 transactions  ·  5,852 customers  ·  Python, Snowflake, Tableau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Aditya Ranjan  ·  Portfolio project  ·  October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builds every autumn and peaks in November</a:t>
            </a:r>
            <a:endParaRPr lang="en-US" sz="2400" dirty="0"/>
          </a:p>
        </p:txBody>
      </p:sp>
      <p:sp>
        <p:nvSpPr>
          <p:cNvPr id="3" name="KPI card 1"/>
          <p:cNvSpPr/>
          <p:nvPr/>
        </p:nvSpPr>
        <p:spPr>
          <a:xfrm>
            <a:off x="457200" y="1188720"/>
            <a:ext cx="21945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KPI 1 value"/>
          <p:cNvSpPr txBox="1"/>
          <p:nvPr/>
        </p:nvSpPr>
        <p:spPr>
          <a:xfrm>
            <a:off x="621792" y="124358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£19.60M</a:t>
            </a:r>
            <a:endParaRPr lang="en-US" sz="2600" dirty="0"/>
          </a:p>
        </p:txBody>
      </p:sp>
      <p:sp>
        <p:nvSpPr>
          <p:cNvPr id="5" name="KPI 1 label"/>
          <p:cNvSpPr txBox="1"/>
          <p:nvPr/>
        </p:nvSpPr>
        <p:spPr>
          <a:xfrm>
            <a:off x="621792" y="174650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gross merchandise sales</a:t>
            </a:r>
            <a:endParaRPr lang="en-US" sz="1100" dirty="0"/>
          </a:p>
        </p:txBody>
      </p:sp>
      <p:sp>
        <p:nvSpPr>
          <p:cNvPr id="6" name="KPI card 2"/>
          <p:cNvSpPr/>
          <p:nvPr/>
        </p:nvSpPr>
        <p:spPr>
          <a:xfrm>
            <a:off x="457200" y="2057400"/>
            <a:ext cx="21945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KPI 2 value"/>
          <p:cNvSpPr txBox="1"/>
          <p:nvPr/>
        </p:nvSpPr>
        <p:spPr>
          <a:xfrm>
            <a:off x="621792" y="211226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£18.89M</a:t>
            </a:r>
            <a:endParaRPr lang="en-US" sz="2600" dirty="0"/>
          </a:p>
        </p:txBody>
      </p:sp>
      <p:sp>
        <p:nvSpPr>
          <p:cNvPr id="8" name="KPI 2 label"/>
          <p:cNvSpPr txBox="1"/>
          <p:nvPr/>
        </p:nvSpPr>
        <p:spPr>
          <a:xfrm>
            <a:off x="621792" y="261518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estimated net revenue</a:t>
            </a:r>
            <a:endParaRPr lang="en-US" sz="1100" dirty="0"/>
          </a:p>
        </p:txBody>
      </p:sp>
      <p:sp>
        <p:nvSpPr>
          <p:cNvPr id="9" name="KPI card 3"/>
          <p:cNvSpPr/>
          <p:nvPr/>
        </p:nvSpPr>
        <p:spPr>
          <a:xfrm>
            <a:off x="457200" y="2926080"/>
            <a:ext cx="21945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KPI 3 value"/>
          <p:cNvSpPr txBox="1"/>
          <p:nvPr/>
        </p:nvSpPr>
        <p:spPr>
          <a:xfrm>
            <a:off x="621792" y="29809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3.65%</a:t>
            </a:r>
            <a:endParaRPr lang="en-US" sz="2600" dirty="0"/>
          </a:p>
        </p:txBody>
      </p:sp>
      <p:sp>
        <p:nvSpPr>
          <p:cNvPr id="11" name="KPI 3 label"/>
          <p:cNvSpPr txBox="1"/>
          <p:nvPr/>
        </p:nvSpPr>
        <p:spPr>
          <a:xfrm>
            <a:off x="621792" y="348386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cancelled (£716K)</a:t>
            </a:r>
            <a:endParaRPr lang="en-US" sz="1100" dirty="0"/>
          </a:p>
        </p:txBody>
      </p:sp>
      <p:sp>
        <p:nvSpPr>
          <p:cNvPr id="12" name="KPI card 4"/>
          <p:cNvSpPr/>
          <p:nvPr/>
        </p:nvSpPr>
        <p:spPr>
          <a:xfrm>
            <a:off x="457200" y="3794760"/>
            <a:ext cx="21945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KPI 4 value"/>
          <p:cNvSpPr txBox="1"/>
          <p:nvPr/>
        </p:nvSpPr>
        <p:spPr>
          <a:xfrm>
            <a:off x="621792" y="384962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£496</a:t>
            </a:r>
            <a:endParaRPr lang="en-US" sz="2600" dirty="0"/>
          </a:p>
        </p:txBody>
      </p:sp>
      <p:sp>
        <p:nvSpPr>
          <p:cNvPr id="14" name="KPI 4 label"/>
          <p:cNvSpPr txBox="1"/>
          <p:nvPr/>
        </p:nvSpPr>
        <p:spPr>
          <a:xfrm>
            <a:off x="621792" y="435254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average order value</a:t>
            </a:r>
            <a:endParaRPr lang="en-US" sz="11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2926080" y="1143000"/>
          <a:ext cx="57607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rend note"/>
          <p:cNvSpPr txBox="1"/>
          <p:nvPr/>
        </p:nvSpPr>
        <p:spPr>
          <a:xfrm>
            <a:off x="2926080" y="43891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Nov 2010: £1.39M  ·  Nov 2011: £1.43M, about 1.8–1.9× an average month. Dec 2011 is partial and left out.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quarter of customers bring three-quarters of revenue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51206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hampions card"/>
          <p:cNvSpPr/>
          <p:nvPr/>
        </p:nvSpPr>
        <p:spPr>
          <a:xfrm>
            <a:off x="5760720" y="1188720"/>
            <a:ext cx="2926080" cy="329184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hampions count value"/>
          <p:cNvSpPr txBox="1"/>
          <p:nvPr/>
        </p:nvSpPr>
        <p:spPr>
          <a:xfrm>
            <a:off x="5943600" y="1325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1,448</a:t>
            </a:r>
            <a:endParaRPr lang="en-US" sz="2600" dirty="0"/>
          </a:p>
        </p:txBody>
      </p:sp>
      <p:sp>
        <p:nvSpPr>
          <p:cNvPr id="6" name="Champions count label"/>
          <p:cNvSpPr txBox="1"/>
          <p:nvPr/>
        </p:nvSpPr>
        <p:spPr>
          <a:xfrm>
            <a:off x="5943600" y="1828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Champions: 24.74% of identified customers</a:t>
            </a:r>
            <a:endParaRPr lang="en-US" sz="1100" dirty="0"/>
          </a:p>
        </p:txBody>
      </p:sp>
      <p:sp>
        <p:nvSpPr>
          <p:cNvPr id="7" name="Champions share value"/>
          <p:cNvSpPr txBox="1"/>
          <p:nvPr/>
        </p:nvSpPr>
        <p:spPr>
          <a:xfrm>
            <a:off x="5943600" y="2331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74.04%</a:t>
            </a:r>
            <a:endParaRPr lang="en-US" sz="2600" dirty="0"/>
          </a:p>
        </p:txBody>
      </p:sp>
      <p:sp>
        <p:nvSpPr>
          <p:cNvPr id="8" name="Champions share label"/>
          <p:cNvSpPr txBox="1"/>
          <p:nvPr/>
        </p:nvSpPr>
        <p:spPr>
          <a:xfrm>
            <a:off x="5943600" y="2834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of identified-customer net revenue</a:t>
            </a:r>
            <a:endParaRPr lang="en-US" sz="1100" dirty="0"/>
          </a:p>
        </p:txBody>
      </p:sp>
      <p:sp>
        <p:nvSpPr>
          <p:cNvPr id="9" name="Champion value value"/>
          <p:cNvSpPr txBox="1"/>
          <p:nvPr/>
        </p:nvSpPr>
        <p:spPr>
          <a:xfrm>
            <a:off x="5943600" y="3337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£8,346</a:t>
            </a:r>
            <a:endParaRPr lang="en-US" sz="2600" dirty="0"/>
          </a:p>
        </p:txBody>
      </p:sp>
      <p:sp>
        <p:nvSpPr>
          <p:cNvPr id="10" name="Champion value label"/>
          <p:cNvSpPr txBox="1"/>
          <p:nvPr/>
        </p:nvSpPr>
        <p:spPr>
          <a:xfrm>
            <a:off x="5943600" y="3840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average per Champion, vs £2,789 for all identified customers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who leave mostly leave after the first order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47548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etention card"/>
          <p:cNvSpPr/>
          <p:nvPr/>
        </p:nvSpPr>
        <p:spPr>
          <a:xfrm>
            <a:off x="5394960" y="1188720"/>
            <a:ext cx="329184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One-time share value"/>
          <p:cNvSpPr txBox="1"/>
          <p:nvPr/>
        </p:nvSpPr>
        <p:spPr>
          <a:xfrm>
            <a:off x="5577840" y="1325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6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27.65%</a:t>
            </a:r>
            <a:endParaRPr lang="en-US" sz="2600" dirty="0"/>
          </a:p>
        </p:txBody>
      </p:sp>
      <p:sp>
        <p:nvSpPr>
          <p:cNvPr id="6" name="One-time share label"/>
          <p:cNvSpPr txBox="1"/>
          <p:nvPr/>
        </p:nvSpPr>
        <p:spPr>
          <a:xfrm>
            <a:off x="5577840" y="1828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of identified customers never bought again</a:t>
            </a:r>
            <a:endParaRPr lang="en-US" sz="1100" dirty="0"/>
          </a:p>
        </p:txBody>
      </p:sp>
      <p:sp>
        <p:nvSpPr>
          <p:cNvPr id="7" name="Repeat share value"/>
          <p:cNvSpPr txBox="1"/>
          <p:nvPr/>
        </p:nvSpPr>
        <p:spPr>
          <a:xfrm>
            <a:off x="5577840" y="2331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6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72.35%</a:t>
            </a:r>
            <a:endParaRPr lang="en-US" sz="2600" dirty="0"/>
          </a:p>
        </p:txBody>
      </p:sp>
      <p:sp>
        <p:nvSpPr>
          <p:cNvPr id="8" name="Repeat share label"/>
          <p:cNvSpPr txBox="1"/>
          <p:nvPr/>
        </p:nvSpPr>
        <p:spPr>
          <a:xfrm>
            <a:off x="5577840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came back at least once</a:t>
            </a:r>
            <a:endParaRPr lang="en-US" sz="1100" dirty="0"/>
          </a:p>
        </p:txBody>
      </p:sp>
      <p:sp>
        <p:nvSpPr>
          <p:cNvPr id="9" name="Repeat sales value"/>
          <p:cNvSpPr txBox="1"/>
          <p:nvPr/>
        </p:nvSpPr>
        <p:spPr>
          <a:xfrm>
            <a:off x="5577840" y="3337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6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96.74%</a:t>
            </a:r>
            <a:endParaRPr lang="en-US" sz="2600" dirty="0"/>
          </a:p>
        </p:txBody>
      </p:sp>
      <p:sp>
        <p:nvSpPr>
          <p:cNvPr id="10" name="Repeat sales label"/>
          <p:cNvSpPr txBox="1"/>
          <p:nvPr/>
        </p:nvSpPr>
        <p:spPr>
          <a:xfrm>
            <a:off x="5577840" y="3840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of identified-customer sales came from those repeat customers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categories earn more than half of net revenue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53949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tegory card"/>
          <p:cNvSpPr/>
          <p:nvPr/>
        </p:nvSpPr>
        <p:spPr>
          <a:xfrm>
            <a:off x="6035040" y="1188720"/>
            <a:ext cx="2651760" cy="32918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op three share value"/>
          <p:cNvSpPr txBox="1"/>
          <p:nvPr/>
        </p:nvSpPr>
        <p:spPr>
          <a:xfrm>
            <a:off x="6217920" y="1325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56.5%</a:t>
            </a:r>
            <a:endParaRPr lang="en-US" sz="2600" dirty="0"/>
          </a:p>
        </p:txBody>
      </p:sp>
      <p:sp>
        <p:nvSpPr>
          <p:cNvPr id="6" name="Top three share label"/>
          <p:cNvSpPr txBox="1"/>
          <p:nvPr/>
        </p:nvSpPr>
        <p:spPr>
          <a:xfrm>
            <a:off x="621792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of net revenue from Kitchen, Home Decor and Bags</a:t>
            </a:r>
            <a:endParaRPr lang="en-US" sz="1100" dirty="0"/>
          </a:p>
        </p:txBody>
      </p:sp>
      <p:sp>
        <p:nvSpPr>
          <p:cNvPr id="7" name="Bags value"/>
          <p:cNvSpPr txBox="1"/>
          <p:nvPr/>
        </p:nvSpPr>
        <p:spPr>
          <a:xfrm>
            <a:off x="6217920" y="2331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6% → 14%</a:t>
            </a:r>
            <a:endParaRPr lang="en-US" sz="2600" dirty="0"/>
          </a:p>
        </p:txBody>
      </p:sp>
      <p:sp>
        <p:nvSpPr>
          <p:cNvPr id="8" name="Bags label"/>
          <p:cNvSpPr txBox="1"/>
          <p:nvPr/>
        </p:nvSpPr>
        <p:spPr>
          <a:xfrm>
            <a:off x="621792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Bags: share of products vs share of revenue</a:t>
            </a:r>
            <a:endParaRPr lang="en-US" sz="1100" dirty="0"/>
          </a:p>
        </p:txBody>
      </p:sp>
      <p:sp>
        <p:nvSpPr>
          <p:cNvPr id="9" name="Fashion value"/>
          <p:cNvSpPr txBox="1"/>
          <p:nvPr/>
        </p:nvSpPr>
        <p:spPr>
          <a:xfrm>
            <a:off x="6217920" y="3337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11% → 3%</a:t>
            </a:r>
            <a:endParaRPr lang="en-US" sz="2600" dirty="0"/>
          </a:p>
        </p:txBody>
      </p:sp>
      <p:sp>
        <p:nvSpPr>
          <p:cNvPr id="10" name="Fashion label"/>
          <p:cNvSpPr txBox="1"/>
          <p:nvPr/>
        </p:nvSpPr>
        <p:spPr>
          <a:xfrm>
            <a:off x="6217920" y="3840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Fashion accessories: products vs revenue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was reconciled before reaching a dashboard</a:t>
            </a:r>
            <a:endParaRPr lang="en-US" sz="2400" dirty="0"/>
          </a:p>
        </p:txBody>
      </p:sp>
      <p:sp>
        <p:nvSpPr>
          <p:cNvPr id="3" name="Step card 1"/>
          <p:cNvSpPr/>
          <p:nvPr/>
        </p:nvSpPr>
        <p:spPr>
          <a:xfrm>
            <a:off x="457200" y="1234440"/>
            <a:ext cx="18745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value 1"/>
          <p:cNvSpPr txBox="1"/>
          <p:nvPr/>
        </p:nvSpPr>
        <p:spPr>
          <a:xfrm>
            <a:off x="594360" y="1371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1,067,371</a:t>
            </a:r>
            <a:endParaRPr lang="en-US" sz="2200" dirty="0"/>
          </a:p>
        </p:txBody>
      </p:sp>
      <p:sp>
        <p:nvSpPr>
          <p:cNvPr id="5" name="Step label 1"/>
          <p:cNvSpPr txBox="1"/>
          <p:nvPr/>
        </p:nvSpPr>
        <p:spPr>
          <a:xfrm>
            <a:off x="594360" y="192024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raw rows from two overlapping Excel sheets</a:t>
            </a:r>
            <a:endParaRPr lang="en-US" sz="1100" dirty="0"/>
          </a:p>
        </p:txBody>
      </p:sp>
      <p:sp>
        <p:nvSpPr>
          <p:cNvPr id="6" name="Arrow 1"/>
          <p:cNvSpPr/>
          <p:nvPr/>
        </p:nvSpPr>
        <p:spPr>
          <a:xfrm>
            <a:off x="2359152" y="1965960"/>
            <a:ext cx="201168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Step card 2"/>
          <p:cNvSpPr/>
          <p:nvPr/>
        </p:nvSpPr>
        <p:spPr>
          <a:xfrm>
            <a:off x="2587752" y="1234440"/>
            <a:ext cx="18745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ep value 2"/>
          <p:cNvSpPr txBox="1"/>
          <p:nvPr/>
        </p:nvSpPr>
        <p:spPr>
          <a:xfrm>
            <a:off x="2724912" y="1371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−34,335</a:t>
            </a:r>
            <a:endParaRPr lang="en-US" sz="2200" dirty="0"/>
          </a:p>
        </p:txBody>
      </p:sp>
      <p:sp>
        <p:nvSpPr>
          <p:cNvPr id="9" name="Step label 2"/>
          <p:cNvSpPr txBox="1"/>
          <p:nvPr/>
        </p:nvSpPr>
        <p:spPr>
          <a:xfrm>
            <a:off x="2724912" y="192024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duplicates removed (22,202 in both sheets)</a:t>
            </a:r>
            <a:endParaRPr lang="en-US" sz="1100" dirty="0"/>
          </a:p>
        </p:txBody>
      </p:sp>
      <p:sp>
        <p:nvSpPr>
          <p:cNvPr id="10" name="Arrow 2"/>
          <p:cNvSpPr/>
          <p:nvPr/>
        </p:nvSpPr>
        <p:spPr>
          <a:xfrm>
            <a:off x="4489704" y="1965960"/>
            <a:ext cx="201168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tep card 3"/>
          <p:cNvSpPr/>
          <p:nvPr/>
        </p:nvSpPr>
        <p:spPr>
          <a:xfrm>
            <a:off x="4718304" y="1234440"/>
            <a:ext cx="18745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ep value 3"/>
          <p:cNvSpPr txBox="1"/>
          <p:nvPr/>
        </p:nvSpPr>
        <p:spPr>
          <a:xfrm>
            <a:off x="4855464" y="1371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1,033,036</a:t>
            </a:r>
            <a:endParaRPr lang="en-US" sz="2200" dirty="0"/>
          </a:p>
        </p:txBody>
      </p:sp>
      <p:sp>
        <p:nvSpPr>
          <p:cNvPr id="13" name="Step label 3"/>
          <p:cNvSpPr txBox="1"/>
          <p:nvPr/>
        </p:nvSpPr>
        <p:spPr>
          <a:xfrm>
            <a:off x="4855464" y="192024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clean rows, loaded to Snowflake RAW → STAGING → ANALYTICS</a:t>
            </a:r>
            <a:endParaRPr lang="en-US" sz="1100" dirty="0"/>
          </a:p>
        </p:txBody>
      </p:sp>
      <p:sp>
        <p:nvSpPr>
          <p:cNvPr id="14" name="Arrow 3"/>
          <p:cNvSpPr/>
          <p:nvPr/>
        </p:nvSpPr>
        <p:spPr>
          <a:xfrm>
            <a:off x="6620256" y="1965960"/>
            <a:ext cx="201168" cy="27432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Step card 4"/>
          <p:cNvSpPr/>
          <p:nvPr/>
        </p:nvSpPr>
        <p:spPr>
          <a:xfrm>
            <a:off x="6848856" y="1234440"/>
            <a:ext cx="18745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ep value 4"/>
          <p:cNvSpPr txBox="1"/>
          <p:nvPr/>
        </p:nvSpPr>
        <p:spPr>
          <a:xfrm>
            <a:off x="6986016" y="1371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 pp</a:t>
            </a:r>
            <a:endParaRPr lang="en-US" sz="2200" dirty="0"/>
          </a:p>
        </p:txBody>
      </p:sp>
      <p:sp>
        <p:nvSpPr>
          <p:cNvPr id="17" name="Step label 4"/>
          <p:cNvSpPr txBox="1"/>
          <p:nvPr/>
        </p:nvSpPr>
        <p:spPr>
          <a:xfrm>
            <a:off x="6986016" y="192024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largest gap between Tableau and Snowflake segment shares</a:t>
            </a:r>
            <a:endParaRPr lang="en-US" sz="1100" dirty="0"/>
          </a:p>
        </p:txBody>
      </p:sp>
      <p:sp>
        <p:nvSpPr>
          <p:cNvPr id="18" name="Checks list"/>
          <p:cNvSpPr txBox="1"/>
          <p:nvPr/>
        </p:nvSpPr>
        <p:spPr>
          <a:xfrm>
            <a:off x="457200" y="3200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Flagged, not deleted: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suspected £38,970 entry error was kept and marked for review.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Totals matched at every layer: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row counts, revenue and 5,852 customers in RAW, STAGING and ANALYTICS.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Categories checked: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4,725 products classified by a local LLM, with rules and schema checks; none missing.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would test next</a:t>
            </a:r>
            <a:endParaRPr lang="en-US" sz="2400" dirty="0"/>
          </a:p>
        </p:txBody>
      </p:sp>
      <p:sp>
        <p:nvSpPr>
          <p:cNvPr id="3" name="Recommendation card 1"/>
          <p:cNvSpPr/>
          <p:nvPr/>
        </p:nvSpPr>
        <p:spPr>
          <a:xfrm>
            <a:off x="457200" y="1234440"/>
            <a:ext cx="260604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ec number 1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Rec title 1"/>
          <p:cNvSpPr txBox="1"/>
          <p:nvPr/>
        </p:nvSpPr>
        <p:spPr>
          <a:xfrm>
            <a:off x="640080" y="178308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Protect Champions</a:t>
            </a:r>
            <a:endParaRPr lang="en-US" sz="1500" dirty="0"/>
          </a:p>
        </p:txBody>
      </p:sp>
      <p:sp>
        <p:nvSpPr>
          <p:cNvPr id="6" name="Rec text 1"/>
          <p:cNvSpPr txBox="1"/>
          <p:nvPr/>
        </p:nvSpPr>
        <p:spPr>
          <a:xfrm>
            <a:off x="640080" y="2395728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 loyalty benefits and account outreach for the 1,448 Champions against broad campaigns. They hold 74% of revenue.</a:t>
            </a:r>
            <a:endParaRPr lang="en-US" sz="1200" dirty="0"/>
          </a:p>
        </p:txBody>
      </p:sp>
      <p:sp>
        <p:nvSpPr>
          <p:cNvPr id="7" name="Recommendation card 2"/>
          <p:cNvSpPr/>
          <p:nvPr/>
        </p:nvSpPr>
        <p:spPr>
          <a:xfrm>
            <a:off x="3291840" y="1234440"/>
            <a:ext cx="260604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Rec number 2"/>
          <p:cNvSpPr txBox="1"/>
          <p:nvPr/>
        </p:nvSpPr>
        <p:spPr>
          <a:xfrm>
            <a:off x="34747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Rec title 2"/>
          <p:cNvSpPr txBox="1"/>
          <p:nvPr/>
        </p:nvSpPr>
        <p:spPr>
          <a:xfrm>
            <a:off x="3474720" y="178308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Win the second order</a:t>
            </a:r>
            <a:endParaRPr lang="en-US" sz="1500" dirty="0"/>
          </a:p>
        </p:txBody>
      </p:sp>
      <p:sp>
        <p:nvSpPr>
          <p:cNvPr id="10" name="Rec text 2"/>
          <p:cNvSpPr txBox="1"/>
          <p:nvPr/>
        </p:nvSpPr>
        <p:spPr>
          <a:xfrm>
            <a:off x="3474720" y="2395728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 a follow-up in the first 30 days. 27.65% never return, and most of the drop happens right after the first order.</a:t>
            </a:r>
            <a:endParaRPr lang="en-US" sz="1200" dirty="0"/>
          </a:p>
        </p:txBody>
      </p:sp>
      <p:sp>
        <p:nvSpPr>
          <p:cNvPr id="11" name="Recommendation card 3"/>
          <p:cNvSpPr/>
          <p:nvPr/>
        </p:nvSpPr>
        <p:spPr>
          <a:xfrm>
            <a:off x="6126480" y="1234440"/>
            <a:ext cx="260604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Rec number 3"/>
          <p:cNvSpPr txBox="1"/>
          <p:nvPr/>
        </p:nvSpPr>
        <p:spPr>
          <a:xfrm>
            <a:off x="63093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Rec title 3"/>
          <p:cNvSpPr txBox="1"/>
          <p:nvPr/>
        </p:nvSpPr>
        <p:spPr>
          <a:xfrm>
            <a:off x="6309360" y="178308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Record why orders are cancelled</a:t>
            </a:r>
            <a:endParaRPr lang="en-US" sz="1500" dirty="0"/>
          </a:p>
        </p:txBody>
      </p:sp>
      <p:sp>
        <p:nvSpPr>
          <p:cNvPr id="14" name="Rec text 3"/>
          <p:cNvSpPr txBox="1"/>
          <p:nvPr/>
        </p:nvSpPr>
        <p:spPr>
          <a:xfrm>
            <a:off x="6309360" y="2395728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Capture a reason code at cancellation. At 3.65%, each percentage point is about £196K of gross sales.</a:t>
            </a:r>
            <a:endParaRPr lang="en-US" sz="1200" dirty="0"/>
          </a:p>
        </p:txBody>
      </p:sp>
      <p:sp>
        <p:nvSpPr>
          <p:cNvPr id="15" name="Limits note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Limits: a public dataset (UCI Online Retail II), so these are associations, not proof of cause, and no business acted on them. Code, SQL and dashboards: github.com/beingbrute/Customer-Revenue-Retention-Analytics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ail Berry">
  <a:themeElements>
    <a:clrScheme name="Retail Berry">
      <a:dk1>
        <a:srgbClr val="1F1A1C"/>
      </a:dk1>
      <a:lt1>
        <a:srgbClr val="FFFFFF"/>
      </a:lt1>
      <a:dk2>
        <a:srgbClr val="5A2440"/>
      </a:dk2>
      <a:lt2>
        <a:srgbClr val="F6EFF2"/>
      </a:lt2>
      <a:accent1>
        <a:srgbClr val="6D2E46"/>
      </a:accent1>
      <a:accent2>
        <a:srgbClr val="C08497"/>
      </a:accent2>
      <a:accent3>
        <a:srgbClr val="2F6F73"/>
      </a:accent3>
      <a:accent4>
        <a:srgbClr val="A9A3A6"/>
      </a:accent4>
      <a:accent5>
        <a:srgbClr val="D9C4CC"/>
      </a:accent5>
      <a:accent6>
        <a:srgbClr val="8C5A6E"/>
      </a:accent6>
      <a:hlink>
        <a:srgbClr val="2F6F73"/>
      </a:hlink>
      <a:folHlink>
        <a:srgbClr val="6D2E46"/>
      </a:folHlink>
    </a:clrScheme>
    <a:fontScheme name="Retail Ber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Revenue and Retention Analysis</dc:title>
  <dc:subject>PptxGenJS Presentation</dc:subject>
  <dc:creator>Aditya Ranjan</dc:creator>
  <cp:lastModifiedBy>Aditya Ranjan</cp:lastModifiedBy>
  <cp:revision>1</cp:revision>
  <dcterms:created xsi:type="dcterms:W3CDTF">2026-10-25T15:34:33Z</dcterms:created>
  <dcterms:modified xsi:type="dcterms:W3CDTF">2026-10-25T15:34:33Z</dcterms:modified>
</cp:coreProperties>
</file>